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94" r:id="rId3"/>
    <p:sldId id="258" r:id="rId4"/>
    <p:sldId id="259" r:id="rId5"/>
    <p:sldId id="262" r:id="rId6"/>
    <p:sldId id="263" r:id="rId7"/>
    <p:sldId id="266" r:id="rId8"/>
    <p:sldId id="267" r:id="rId9"/>
    <p:sldId id="282" r:id="rId10"/>
    <p:sldId id="261" r:id="rId11"/>
    <p:sldId id="283" r:id="rId12"/>
    <p:sldId id="284" r:id="rId13"/>
    <p:sldId id="285" r:id="rId14"/>
    <p:sldId id="286" r:id="rId15"/>
    <p:sldId id="265" r:id="rId16"/>
    <p:sldId id="287" r:id="rId17"/>
    <p:sldId id="288" r:id="rId18"/>
    <p:sldId id="270" r:id="rId19"/>
    <p:sldId id="289" r:id="rId20"/>
    <p:sldId id="290" r:id="rId21"/>
    <p:sldId id="269" r:id="rId22"/>
    <p:sldId id="291" r:id="rId23"/>
    <p:sldId id="292" r:id="rId24"/>
    <p:sldId id="293" r:id="rId25"/>
    <p:sldId id="272" r:id="rId26"/>
    <p:sldId id="28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18"/>
    <p:restoredTop sz="94783"/>
  </p:normalViewPr>
  <p:slideViewPr>
    <p:cSldViewPr snapToGrid="0">
      <p:cViewPr varScale="1">
        <p:scale>
          <a:sx n="100" d="100"/>
          <a:sy n="100" d="100"/>
        </p:scale>
        <p:origin x="768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8901BE-A363-8449-9150-34266145D166}" type="datetimeFigureOut">
              <a:rPr lang="en-US" smtClean="0"/>
              <a:t>10/1/26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A26BBB-9A8E-D34E-BACB-8FAB6F714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441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26BBB-9A8E-D34E-BACB-8FAB6F714D8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3855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26BBB-9A8E-D34E-BACB-8FAB6F714D8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884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11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5B504-6170-E4CF-DABA-D110B4DD42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C3D1A7-786A-7C94-CE80-CE407DDA5C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6EB00F-4C40-D3D7-9F13-7CBCCBE89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86568-D1AA-314C-A0A5-45E865BCACC6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AFF668-733D-5021-D6D3-E0D53F673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ADA771-6865-E925-B065-B0F8DA797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7C491-0BE4-7440-8EAF-32A756913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156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DD1DB-A318-BD7E-0A09-425BDCE47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7B93D-176D-1F30-3148-25DEA24A93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E9E7DF-45BB-C4BD-B204-CC584C3C5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86568-D1AA-314C-A0A5-45E865BCACC6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E71256-A8FE-397E-F9A3-4168985E1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353D2A-6AC4-5A7A-9F0F-715B5DF9E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7C491-0BE4-7440-8EAF-32A756913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338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88820-F998-147F-A56E-77F2E8AAC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905D6A-6BAD-FC24-688B-8C616ABF74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713915-F9A9-E1B4-571D-0754B757F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86568-D1AA-314C-A0A5-45E865BCACC6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21E48D-0B15-BACE-EC7A-D07432586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434A98-417A-C11D-5D46-637FA883A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7C491-0BE4-7440-8EAF-32A756913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642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DB291-7E58-D02D-8C4D-9FD602515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08EF2-BD62-F3DE-1C82-716BF5CC58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A8981B-5049-06D2-836D-AE3A3742A1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D19738-BC43-69D8-C97D-A8B86A5F5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86568-D1AA-314C-A0A5-45E865BCACC6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85FA4E-A391-CD7D-8608-5AD297991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8CF86B-5222-6219-373B-98A7148AB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7C491-0BE4-7440-8EAF-32A756913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518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A9352-47A2-E9BB-EC95-5D7D291E1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8644D-1740-9919-6D9A-ED267A8056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6C34D0-47A2-8F3A-A651-D4240CF4EF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9F3E5A-25ED-3727-967E-CF02CF73A0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17C607-3FAC-C3E9-E468-FC6EF0D28C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765F0D-2028-C51D-D003-801DDFB37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86568-D1AA-314C-A0A5-45E865BCACC6}" type="datetimeFigureOut">
              <a:rPr lang="en-US" smtClean="0"/>
              <a:t>10/1/26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3A3C25-74E3-37F0-BB20-28A257AF6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FC3921-788D-7CE4-9D37-B29A012BF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7C491-0BE4-7440-8EAF-32A756913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10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56042-3204-3F8F-C74C-5E3CD3853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4C4DFE-30A7-961A-DD0B-8E3C37647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86568-D1AA-314C-A0A5-45E865BCACC6}" type="datetimeFigureOut">
              <a:rPr lang="en-US" smtClean="0"/>
              <a:t>10/1/26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56F69-3918-3092-F5CB-87602AB9F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52794A-49D2-4F35-53DB-C2EB9B687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7C491-0BE4-7440-8EAF-32A756913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290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9DDAE8-7EAE-7FA6-5C53-6D92B2216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86568-D1AA-314C-A0A5-45E865BCACC6}" type="datetimeFigureOut">
              <a:rPr lang="en-US" smtClean="0"/>
              <a:t>10/1/26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85808-41D1-9ACF-49A2-E61736D28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67BE3E-E472-FDAB-4F35-286E9866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7C491-0BE4-7440-8EAF-32A756913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141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22993-9EB0-689E-0F62-16E6AC4BA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C9F10-56D6-E4CA-F5DD-A5A32024CD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C430EF-2CC1-F71B-09B4-7C00367B8C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9BD6BB-67E5-A37F-258A-2462C29EB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86568-D1AA-314C-A0A5-45E865BCACC6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E7ABEF-1041-C17E-C8FB-DDAD6D3AD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C3229D-636C-9B39-BAA4-413FBFABF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7C491-0BE4-7440-8EAF-32A756913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914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58B7B-9FDF-8E1B-A03E-77F7F1DB5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DDAD25-B924-1AAF-438D-143019460F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7E4FD5-2EF6-23FF-20CE-8DD79172BB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078A66-8F9D-EA07-A736-6112F31E9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86568-D1AA-314C-A0A5-45E865BCACC6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C8CAE9-0255-718A-A97E-763C0035D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C596A4-A0A2-783D-DC02-8272689AC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7C491-0BE4-7440-8EAF-32A756913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515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4C62A-3C35-2400-01DD-BED31E9B7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4E7390-3193-5A28-ECB3-2BC69804C6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F6EA4-A7CC-992E-FE5A-2ED35D30A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86568-D1AA-314C-A0A5-45E865BCACC6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58613E-6836-E4D0-A764-FE0EECA17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D2489-74C2-7739-7FB3-F13EACF8E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7C491-0BE4-7440-8EAF-32A756913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675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E99EBE-F9FF-7ADD-5CC9-9EF3B4FEF7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A27553-81D1-A48E-418D-32DE24A2B6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220B8D-390A-D799-25CE-597E430FB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86568-D1AA-314C-A0A5-45E865BCACC6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3715FC-74F2-F2DF-A10E-2A838E7E9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9E990-54E0-5A0D-A14F-F2C3B67B2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7C491-0BE4-7440-8EAF-32A756913F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6642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gradFill flip="none" rotWithShape="1">
          <a:gsLst>
            <a:gs pos="0">
              <a:schemeClr val="bg1">
                <a:lumMod val="52357"/>
              </a:schemeClr>
            </a:gs>
            <a:gs pos="20000">
              <a:schemeClr val="bg1">
                <a:lumMod val="75000"/>
              </a:schemeClr>
            </a:gs>
            <a:gs pos="85000">
              <a:schemeClr val="bg1">
                <a:lumMod val="85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Biography – SHAWNADITHIT – Volume VI (1821-1835) – Dictionary of Canadian  Biography">
            <a:extLst>
              <a:ext uri="{FF2B5EF4-FFF2-40B4-BE49-F238E27FC236}">
                <a16:creationId xmlns:a16="http://schemas.microsoft.com/office/drawing/2014/main" id="{282D5AF3-865A-4678-1821-6F5346E2CE7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alphaModFix amt="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2278"/>
          <a:stretch/>
        </p:blipFill>
        <p:spPr bwMode="auto">
          <a:xfrm>
            <a:off x="5821666" y="-370949"/>
            <a:ext cx="4366694" cy="5340403"/>
          </a:xfrm>
          <a:prstGeom prst="rect">
            <a:avLst/>
          </a:prstGeom>
          <a:noFill/>
          <a:effectLst>
            <a:softEdge rad="921065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828E62-DF22-9E6C-73E0-D2FE675CEC0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7000"/>
          </a:blip>
          <a:stretch>
            <a:fillRect/>
          </a:stretch>
        </p:blipFill>
        <p:spPr>
          <a:xfrm>
            <a:off x="-305777" y="1507959"/>
            <a:ext cx="7925778" cy="5805624"/>
          </a:xfrm>
          <a:prstGeom prst="rect">
            <a:avLst/>
          </a:prstGeom>
          <a:effectLst>
            <a:softEdge rad="531731"/>
          </a:effectLst>
        </p:spPr>
      </p:pic>
      <p:pic>
        <p:nvPicPr>
          <p:cNvPr id="1026" name="Picture 2" descr="MP0036">
            <a:extLst>
              <a:ext uri="{FF2B5EF4-FFF2-40B4-BE49-F238E27FC236}">
                <a16:creationId xmlns:a16="http://schemas.microsoft.com/office/drawing/2014/main" id="{50EE970D-7B95-61F4-8F2A-7EE561A0D2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7620001" cy="2959100"/>
          </a:xfrm>
          <a:prstGeom prst="rect">
            <a:avLst/>
          </a:prstGeom>
          <a:noFill/>
          <a:effectLst>
            <a:softEdge rad="3460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The Vancouver Expedition 1791-5 - more than Nelson">
            <a:extLst>
              <a:ext uri="{FF2B5EF4-FFF2-40B4-BE49-F238E27FC236}">
                <a16:creationId xmlns:a16="http://schemas.microsoft.com/office/drawing/2014/main" id="{FDF31F6B-5523-9F5B-219E-499C97325A2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alphaModFix amt="1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2442" y="1782917"/>
            <a:ext cx="6700773" cy="5303769"/>
          </a:xfrm>
          <a:prstGeom prst="rect">
            <a:avLst/>
          </a:prstGeom>
          <a:noFill/>
          <a:effectLst>
            <a:softEdge rad="288797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undefined">
            <a:extLst>
              <a:ext uri="{FF2B5EF4-FFF2-40B4-BE49-F238E27FC236}">
                <a16:creationId xmlns:a16="http://schemas.microsoft.com/office/drawing/2014/main" id="{94052451-EB43-1E3C-0862-5FB18EFC01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alphaModFix amt="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5966" y="0"/>
            <a:ext cx="2856473" cy="5678905"/>
          </a:xfrm>
          <a:prstGeom prst="rect">
            <a:avLst/>
          </a:prstGeom>
          <a:noFill/>
          <a:effectLst>
            <a:softEdge rad="43151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0299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5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6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5000"/>
                <a:lumOff val="95000"/>
                <a:alpha val="0"/>
              </a:schemeClr>
            </a:gs>
            <a:gs pos="42000">
              <a:schemeClr val="bg1"/>
            </a:gs>
            <a:gs pos="100000">
              <a:schemeClr val="accent3">
                <a:lumMod val="45000"/>
                <a:lumOff val="55000"/>
              </a:schemeClr>
            </a:gs>
            <a:gs pos="91000">
              <a:schemeClr val="accent3">
                <a:lumMod val="30000"/>
                <a:lumOff val="7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D07BFF-4E29-DB72-C292-9937990B6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973D9D-7F2D-B400-8F38-F464303D2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CB6FCD-8A9D-8CC3-5820-C6E3F9FCE3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286568-D1AA-314C-A0A5-45E865BCACC6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84B105-BDB5-8027-BFAC-60A09BC974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F37F88-9487-0FFA-0267-DD98F0BE52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57C491-0BE4-7440-8EAF-32A756913FAA}" type="slidenum">
              <a:rPr lang="en-US" smtClean="0"/>
              <a:t>‹#›</a:t>
            </a:fld>
            <a:endParaRPr lang="en-US"/>
          </a:p>
        </p:txBody>
      </p:sp>
      <p:pic>
        <p:nvPicPr>
          <p:cNvPr id="20" name="Picture 19" descr="The Dark Disturbing Tale Of Jacques Cartier In Canada — CANADIANA Web  Series | chegos.pl">
            <a:extLst>
              <a:ext uri="{FF2B5EF4-FFF2-40B4-BE49-F238E27FC236}">
                <a16:creationId xmlns:a16="http://schemas.microsoft.com/office/drawing/2014/main" id="{176CC8A3-55E9-41B1-B21F-F646B93D479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4">
            <a:alphaModFix amt="1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4" b="10306"/>
          <a:stretch/>
        </p:blipFill>
        <p:spPr bwMode="auto">
          <a:xfrm>
            <a:off x="900224" y="3245668"/>
            <a:ext cx="3289004" cy="4064351"/>
          </a:xfrm>
          <a:prstGeom prst="rect">
            <a:avLst/>
          </a:prstGeom>
          <a:noFill/>
          <a:effectLst>
            <a:softEdge rad="211348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" descr="Mi'kmaw Encampment by Hibbert Binney, c.1791, Nova Scotia Museum">
            <a:extLst>
              <a:ext uri="{FF2B5EF4-FFF2-40B4-BE49-F238E27FC236}">
                <a16:creationId xmlns:a16="http://schemas.microsoft.com/office/drawing/2014/main" id="{94093BDD-CC19-501B-4913-77D501CAA5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alphaModFix amt="2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804837" y="3429001"/>
            <a:ext cx="4040372" cy="3833034"/>
          </a:xfrm>
          <a:prstGeom prst="rect">
            <a:avLst/>
          </a:prstGeom>
          <a:noFill/>
          <a:effectLst>
            <a:softEdge rad="368324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4" descr="MP0009">
            <a:extLst>
              <a:ext uri="{FF2B5EF4-FFF2-40B4-BE49-F238E27FC236}">
                <a16:creationId xmlns:a16="http://schemas.microsoft.com/office/drawing/2014/main" id="{221B0960-3524-5B94-DDFA-095C544B60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biLevel thresh="25000"/>
            <a:alphaModFix am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2437" y="3593805"/>
            <a:ext cx="2654191" cy="3309451"/>
          </a:xfrm>
          <a:prstGeom prst="rect">
            <a:avLst/>
          </a:prstGeom>
          <a:noFill/>
          <a:effectLst>
            <a:softEdge rad="169779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8" descr="undefined">
            <a:extLst>
              <a:ext uri="{FF2B5EF4-FFF2-40B4-BE49-F238E27FC236}">
                <a16:creationId xmlns:a16="http://schemas.microsoft.com/office/drawing/2014/main" id="{9C78B640-3ED9-2318-C579-989DDB66BEB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alphaModFix amt="1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7397" y="3429000"/>
            <a:ext cx="3676425" cy="3881019"/>
          </a:xfrm>
          <a:prstGeom prst="rect">
            <a:avLst/>
          </a:prstGeom>
          <a:noFill/>
          <a:effectLst>
            <a:softEdge rad="342162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3" descr="Red River Rebellion - Wikipedia">
            <a:extLst>
              <a:ext uri="{FF2B5EF4-FFF2-40B4-BE49-F238E27FC236}">
                <a16:creationId xmlns:a16="http://schemas.microsoft.com/office/drawing/2014/main" id="{ECA53AAD-5020-72A0-FC08-380411A3CBD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alphaModFix am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93354" y="21263"/>
            <a:ext cx="5100279" cy="4954771"/>
          </a:xfrm>
          <a:prstGeom prst="rect">
            <a:avLst/>
          </a:prstGeom>
          <a:noFill/>
          <a:effectLst>
            <a:softEdge rad="854729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4" descr="SliammonSunday Instagram posts (photos and videos) - Picuki.com">
            <a:extLst>
              <a:ext uri="{FF2B5EF4-FFF2-40B4-BE49-F238E27FC236}">
                <a16:creationId xmlns:a16="http://schemas.microsoft.com/office/drawing/2014/main" id="{57B6C7E9-5D40-3DD1-295D-B88625F6ED5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9">
            <a:alphaModFix amt="4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697"/>
          <a:stretch/>
        </p:blipFill>
        <p:spPr bwMode="auto">
          <a:xfrm>
            <a:off x="-621879" y="1838207"/>
            <a:ext cx="2716373" cy="5471812"/>
          </a:xfrm>
          <a:prstGeom prst="rect">
            <a:avLst/>
          </a:prstGeom>
          <a:noFill/>
          <a:effectLst>
            <a:softEdge rad="506122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1828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FF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png"/><Relationship Id="rId9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JPG"/><Relationship Id="rId4" Type="http://schemas.openxmlformats.org/officeDocument/2006/relationships/image" Target="../media/image2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3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hyperlink" Target="https://www.aptnnews.ca/national-news/mikmaw-grandmothers-hold-feast-after-defeating-alton-gas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jpeg"/><Relationship Id="rId4" Type="http://schemas.openxmlformats.org/officeDocument/2006/relationships/image" Target="../media/image4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The Dark Disturbing Tale Of Jacques Cartier In Canada — CANADIANA Web  Series | chegos.pl">
            <a:extLst>
              <a:ext uri="{FF2B5EF4-FFF2-40B4-BE49-F238E27FC236}">
                <a16:creationId xmlns:a16="http://schemas.microsoft.com/office/drawing/2014/main" id="{DC5AAF6D-7EE9-0A40-AC0A-443F5CD0F7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4" b="10306"/>
          <a:stretch/>
        </p:blipFill>
        <p:spPr bwMode="auto">
          <a:xfrm>
            <a:off x="900224" y="3245668"/>
            <a:ext cx="3289004" cy="4064351"/>
          </a:xfrm>
          <a:prstGeom prst="rect">
            <a:avLst/>
          </a:prstGeom>
          <a:noFill/>
          <a:effectLst>
            <a:softEdge rad="211348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Mi'kmaw Encampment by Hibbert Binney, c.1791, Nova Scotia Museum">
            <a:extLst>
              <a:ext uri="{FF2B5EF4-FFF2-40B4-BE49-F238E27FC236}">
                <a16:creationId xmlns:a16="http://schemas.microsoft.com/office/drawing/2014/main" id="{54695AE8-5330-B50F-A27B-C1472C13D2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7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804837" y="3429001"/>
            <a:ext cx="4040372" cy="3833034"/>
          </a:xfrm>
          <a:prstGeom prst="rect">
            <a:avLst/>
          </a:prstGeom>
          <a:noFill/>
          <a:effectLst>
            <a:softEdge rad="368324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P0009">
            <a:extLst>
              <a:ext uri="{FF2B5EF4-FFF2-40B4-BE49-F238E27FC236}">
                <a16:creationId xmlns:a16="http://schemas.microsoft.com/office/drawing/2014/main" id="{B2BAEEA7-F1B5-65F7-6AEB-6308098557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biLevel thresh="25000"/>
            <a:alphaModFix amt="3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2437" y="3593805"/>
            <a:ext cx="2654191" cy="3309451"/>
          </a:xfrm>
          <a:prstGeom prst="rect">
            <a:avLst/>
          </a:prstGeom>
          <a:noFill/>
          <a:effectLst>
            <a:softEdge rad="169779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undefined">
            <a:extLst>
              <a:ext uri="{FF2B5EF4-FFF2-40B4-BE49-F238E27FC236}">
                <a16:creationId xmlns:a16="http://schemas.microsoft.com/office/drawing/2014/main" id="{8E9586B6-1373-C455-5A6E-563A676FE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7397" y="3429000"/>
            <a:ext cx="3676425" cy="3881019"/>
          </a:xfrm>
          <a:prstGeom prst="rect">
            <a:avLst/>
          </a:prstGeom>
          <a:noFill/>
          <a:effectLst>
            <a:softEdge rad="342162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Red River Rebellion - Wikipedia">
            <a:extLst>
              <a:ext uri="{FF2B5EF4-FFF2-40B4-BE49-F238E27FC236}">
                <a16:creationId xmlns:a16="http://schemas.microsoft.com/office/drawing/2014/main" id="{4FB3A250-CCC1-654A-8C3A-EDBC8B1E01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alphaModFix amt="4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93354" y="21263"/>
            <a:ext cx="5100279" cy="4954771"/>
          </a:xfrm>
          <a:prstGeom prst="rect">
            <a:avLst/>
          </a:prstGeom>
          <a:noFill/>
          <a:effectLst>
            <a:softEdge rad="854729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Cree leader Poundmaker is getting an apology from Trudeau. But what really  happened in 1885? | National Post">
            <a:extLst>
              <a:ext uri="{FF2B5EF4-FFF2-40B4-BE49-F238E27FC236}">
                <a16:creationId xmlns:a16="http://schemas.microsoft.com/office/drawing/2014/main" id="{58671A5A-2DAA-124D-4EEF-58BC5D080F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alphaModFix amt="4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52693" y="-2554010"/>
            <a:ext cx="2415930" cy="2256298"/>
          </a:xfrm>
          <a:prstGeom prst="rect">
            <a:avLst/>
          </a:prstGeom>
          <a:noFill/>
          <a:effectLst>
            <a:softEdge rad="154396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SliammonSunday Instagram posts (photos and videos) - Picuki.com">
            <a:extLst>
              <a:ext uri="{FF2B5EF4-FFF2-40B4-BE49-F238E27FC236}">
                <a16:creationId xmlns:a16="http://schemas.microsoft.com/office/drawing/2014/main" id="{9FE912EA-0603-3639-9438-FA77FFDC0F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alphaModFix amt="8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697"/>
          <a:stretch/>
        </p:blipFill>
        <p:spPr bwMode="auto">
          <a:xfrm>
            <a:off x="-632390" y="1807536"/>
            <a:ext cx="2716373" cy="5471812"/>
          </a:xfrm>
          <a:prstGeom prst="rect">
            <a:avLst/>
          </a:prstGeom>
          <a:noFill/>
          <a:effectLst>
            <a:softEdge rad="506122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C5979F8-B0C6-0775-2600-BAD92A7B668D}"/>
              </a:ext>
            </a:extLst>
          </p:cNvPr>
          <p:cNvSpPr txBox="1"/>
          <p:nvPr/>
        </p:nvSpPr>
        <p:spPr>
          <a:xfrm>
            <a:off x="3806456" y="191386"/>
            <a:ext cx="8229600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FF0000"/>
                </a:solidFill>
                <a:latin typeface="American Typewriter" panose="02090604020004020304" pitchFamily="18" charset="77"/>
              </a:rPr>
              <a:t>HIST 300: Indigenous Peoples of Canada to 1876</a:t>
            </a:r>
          </a:p>
          <a:p>
            <a:endParaRPr lang="en-US" b="1" dirty="0"/>
          </a:p>
          <a:p>
            <a:pPr algn="ctr"/>
            <a:r>
              <a:rPr lang="en-US" sz="2400" b="1" dirty="0"/>
              <a:t>“A World of Fragments – Indigenous Responses to Early Colonialism”</a:t>
            </a:r>
          </a:p>
          <a:p>
            <a:pPr algn="ctr"/>
            <a:r>
              <a:rPr lang="en-US" sz="2000"/>
              <a:t>Week 5-1</a:t>
            </a:r>
            <a:endParaRPr lang="en-US" sz="2000" dirty="0"/>
          </a:p>
          <a:p>
            <a:pPr algn="ctr"/>
            <a:r>
              <a:rPr lang="en-US" sz="2000" dirty="0"/>
              <a:t>Dr. Colin Osmond</a:t>
            </a:r>
          </a:p>
        </p:txBody>
      </p:sp>
    </p:spTree>
    <p:extLst>
      <p:ext uri="{BB962C8B-B14F-4D97-AF65-F5344CB8AC3E}">
        <p14:creationId xmlns:p14="http://schemas.microsoft.com/office/powerpoint/2010/main" val="2092825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E4DC71D-5902-310A-BCAA-1C5E509B36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50" y="0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21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E3708-7E0B-034A-5CBB-088CF2A93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2CCAA-BEEE-A9F2-D510-B82EC73A46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Film Review – “</a:t>
            </a:r>
            <a:r>
              <a:rPr lang="en-US" dirty="0" err="1"/>
              <a:t>Ikwe</a:t>
            </a:r>
            <a:r>
              <a:rPr lang="en-US" dirty="0"/>
              <a:t>”</a:t>
            </a:r>
          </a:p>
          <a:p>
            <a:r>
              <a:rPr lang="en-US" dirty="0"/>
              <a:t>Empires along the St. Lawrence River</a:t>
            </a:r>
          </a:p>
          <a:p>
            <a:r>
              <a:rPr lang="en-US" dirty="0"/>
              <a:t>Indigenous Trade Routes and Early Fur Trade</a:t>
            </a:r>
          </a:p>
          <a:p>
            <a:r>
              <a:rPr lang="en-US" dirty="0"/>
              <a:t>A world in Chaos – disease, war, and newcomers</a:t>
            </a:r>
          </a:p>
          <a:p>
            <a:r>
              <a:rPr lang="en-US" dirty="0"/>
              <a:t>The impacts of the Fur Trade on Indigenous Economics and Systems</a:t>
            </a:r>
          </a:p>
        </p:txBody>
      </p:sp>
    </p:spTree>
    <p:extLst>
      <p:ext uri="{BB962C8B-B14F-4D97-AF65-F5344CB8AC3E}">
        <p14:creationId xmlns:p14="http://schemas.microsoft.com/office/powerpoint/2010/main" val="2664602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B4C79-102E-F971-1526-08D0ED49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D3D5F-4189-22B7-19D3-F6DE6D540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Great Peace of Montreal, 1701</a:t>
            </a:r>
          </a:p>
          <a:p>
            <a:r>
              <a:rPr lang="en-US" dirty="0"/>
              <a:t>The End of the Mourning Wars and Beaver Wars</a:t>
            </a:r>
          </a:p>
          <a:p>
            <a:r>
              <a:rPr lang="en-US" dirty="0"/>
              <a:t>A World of Fragments</a:t>
            </a:r>
          </a:p>
          <a:p>
            <a:r>
              <a:rPr lang="en-US" dirty="0"/>
              <a:t>Beginning of Colonial Wars</a:t>
            </a:r>
          </a:p>
          <a:p>
            <a:r>
              <a:rPr lang="en-US" dirty="0"/>
              <a:t>Fallen Empires and the Expansion of the Fur trade</a:t>
            </a:r>
          </a:p>
          <a:p>
            <a:r>
              <a:rPr lang="en-US" i="1" dirty="0"/>
              <a:t>Keywords: Great Peace of Montreal 1701, Mourning Wars, Beaver Wars, New France, Fur Trade, Covenant Chain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9489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61EA9-8CDB-5DFE-A811-8C964CC66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 of the Mourning Wars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0272F-EACD-0DC0-817D-0F4B1CF3A1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Colonial Wars, Beaver Wars, or Mourning Wars?</a:t>
            </a:r>
          </a:p>
          <a:p>
            <a:r>
              <a:rPr lang="en-US" dirty="0"/>
              <a:t>Indigenous agency – refusal to attack other Indigenous groups during European conflict</a:t>
            </a:r>
          </a:p>
          <a:p>
            <a:r>
              <a:rPr lang="en-US" dirty="0"/>
              <a:t>Indigenous world was in fragments – and Europeans were gaining momentum</a:t>
            </a:r>
          </a:p>
          <a:p>
            <a:r>
              <a:rPr lang="en-US" dirty="0"/>
              <a:t>Haudenosaunee Expansion – different objective than Mourning War</a:t>
            </a:r>
          </a:p>
          <a:p>
            <a:r>
              <a:rPr lang="en-US" dirty="0"/>
              <a:t>War was a combination – replace numbers, but also gain access to new fur-trapping areas and trading sites</a:t>
            </a:r>
          </a:p>
        </p:txBody>
      </p:sp>
    </p:spTree>
    <p:extLst>
      <p:ext uri="{BB962C8B-B14F-4D97-AF65-F5344CB8AC3E}">
        <p14:creationId xmlns:p14="http://schemas.microsoft.com/office/powerpoint/2010/main" val="3126446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Brightening the Covenant Chain – Treatied Spaces">
            <a:extLst>
              <a:ext uri="{FF2B5EF4-FFF2-40B4-BE49-F238E27FC236}">
                <a16:creationId xmlns:a16="http://schemas.microsoft.com/office/drawing/2014/main" id="{F5A7173C-004B-F3C6-FBE5-8B3C397D16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994" y="23743"/>
            <a:ext cx="11732012" cy="4916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9224B39-FFED-3424-36B0-46F4B4326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994" y="23743"/>
            <a:ext cx="4780722" cy="1325563"/>
          </a:xfrm>
        </p:spPr>
        <p:txBody>
          <a:bodyPr/>
          <a:lstStyle/>
          <a:p>
            <a:r>
              <a:rPr lang="en-US" dirty="0"/>
              <a:t>Covenant Chain Treaties</a:t>
            </a:r>
          </a:p>
        </p:txBody>
      </p:sp>
      <p:pic>
        <p:nvPicPr>
          <p:cNvPr id="2052" name="Picture 4" descr="Narrating Sovereignty: The Covenant Chain in Intercultural Diplomacy in:  Journal of Early American History Volume 9 Issue 2-3 (2019)">
            <a:extLst>
              <a:ext uri="{FF2B5EF4-FFF2-40B4-BE49-F238E27FC236}">
                <a16:creationId xmlns:a16="http://schemas.microsoft.com/office/drawing/2014/main" id="{9DBFAE95-2E15-C977-5433-FF6D3FBBF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3150" y="4999763"/>
            <a:ext cx="7505700" cy="1736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6112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B54CF-2B1D-B227-4504-88C2205B0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Aftermath of the Great Peace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80441-761C-C7BE-9FA4-5B1381374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Haudenosaunee now allied with both French and English</a:t>
            </a:r>
          </a:p>
          <a:p>
            <a:r>
              <a:rPr lang="en-US" dirty="0"/>
              <a:t>Divided Empire</a:t>
            </a:r>
          </a:p>
          <a:p>
            <a:r>
              <a:rPr lang="en-US" dirty="0"/>
              <a:t>Some groups stayed neutral in Anglo-French conflicts</a:t>
            </a:r>
          </a:p>
          <a:p>
            <a:r>
              <a:rPr lang="en-US" dirty="0"/>
              <a:t>Others fought as mercenaries (hired soldiers) in wars that suited their mutual interests</a:t>
            </a:r>
          </a:p>
          <a:p>
            <a:r>
              <a:rPr lang="en-US" dirty="0"/>
              <a:t>Continued Haudenosaunee commitment to avoid attacking Indigenous Nations as part of colonial conflict</a:t>
            </a:r>
          </a:p>
        </p:txBody>
      </p:sp>
    </p:spTree>
    <p:extLst>
      <p:ext uri="{BB962C8B-B14F-4D97-AF65-F5344CB8AC3E}">
        <p14:creationId xmlns:p14="http://schemas.microsoft.com/office/powerpoint/2010/main" val="1379044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2" name="Picture 6" descr="undefined">
            <a:extLst>
              <a:ext uri="{FF2B5EF4-FFF2-40B4-BE49-F238E27FC236}">
                <a16:creationId xmlns:a16="http://schemas.microsoft.com/office/drawing/2014/main" id="{3AF953D2-EBB2-AED5-ACD1-5FE7384A5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875" y="0"/>
            <a:ext cx="96202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9886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73007DDD-1259-1BBA-31E8-935582FED7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9961" y="257661"/>
            <a:ext cx="7792077" cy="6342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039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E9888-3FCA-ADE0-99C6-D9DAF448A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European Conflicts on Indigenous Lands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FF8BD-A9CF-808F-950D-3922A2E539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War of Spanish Succession, 1702-1712</a:t>
            </a:r>
          </a:p>
          <a:p>
            <a:r>
              <a:rPr lang="en-US" dirty="0"/>
              <a:t>European conflicts (argument over monarchy in Spain) resulted in wars in North America</a:t>
            </a:r>
          </a:p>
          <a:p>
            <a:r>
              <a:rPr lang="en-US" dirty="0"/>
              <a:t>“Empires of Paper”</a:t>
            </a:r>
          </a:p>
          <a:p>
            <a:r>
              <a:rPr lang="en-US" dirty="0"/>
              <a:t>Indigenous people chose allies who they thought best suited their goals</a:t>
            </a:r>
          </a:p>
          <a:p>
            <a:r>
              <a:rPr lang="en-US" dirty="0"/>
              <a:t>Wabanaki, Algonquin, some groups of Haudenosaunee allied with French</a:t>
            </a:r>
          </a:p>
          <a:p>
            <a:r>
              <a:rPr lang="en-US" dirty="0"/>
              <a:t>Some Haudenosaunee groups, Muscogee, Creek, Chickasaw, and Cherokee allied with British </a:t>
            </a:r>
          </a:p>
          <a:p>
            <a:r>
              <a:rPr lang="en-US" dirty="0"/>
              <a:t>War Ended by Treaty of Utrecht, 1713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153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7BC57-D9F2-17A1-E87A-5E1A1B607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666DDCFB-F108-8345-94CE-4BE06E1B9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700" y="0"/>
            <a:ext cx="96250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83906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E9888-3FCA-ADE0-99C6-D9DAF448A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European Conflicts on Indigenous Lands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FF8BD-A9CF-808F-950D-3922A2E539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War of Spanish Succession, 1702-1712</a:t>
            </a:r>
          </a:p>
          <a:p>
            <a:r>
              <a:rPr lang="en-US" dirty="0"/>
              <a:t>European conflicts (argument over monarchy in Spain) resulted in wars in North America</a:t>
            </a:r>
          </a:p>
          <a:p>
            <a:r>
              <a:rPr lang="en-US" dirty="0"/>
              <a:t>“Empires of Paper”</a:t>
            </a:r>
          </a:p>
          <a:p>
            <a:r>
              <a:rPr lang="en-US" dirty="0"/>
              <a:t>Indigenous people chose allies who they thought best suited their goals</a:t>
            </a:r>
          </a:p>
          <a:p>
            <a:r>
              <a:rPr lang="en-US" dirty="0"/>
              <a:t>Wabanaki, Algonquin, some groups of Haudenosaunee allied with French</a:t>
            </a:r>
          </a:p>
          <a:p>
            <a:r>
              <a:rPr lang="en-US" dirty="0"/>
              <a:t>Some Haudenosaunee groups, Muscogee, Creek, Chickasaw, and Cherokee allied with British </a:t>
            </a:r>
          </a:p>
          <a:p>
            <a:r>
              <a:rPr lang="en-US" dirty="0"/>
              <a:t>War Ended by Treaty of Utrecht, 1713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03309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52741-34D2-55AB-45B9-5700CFB7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98652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European Claims, 1713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BFE36-FD67-5C79-8151-680A9171A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54A154B0-E681-58B3-3121-2B05BA28F5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700" y="0"/>
            <a:ext cx="9625013" cy="5866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98238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Fortress of Louisburg Maps">
            <a:extLst>
              <a:ext uri="{FF2B5EF4-FFF2-40B4-BE49-F238E27FC236}">
                <a16:creationId xmlns:a16="http://schemas.microsoft.com/office/drawing/2014/main" id="{BEC96323-2B1E-2D34-2859-C3821826AE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8978" y="723016"/>
            <a:ext cx="5475836" cy="5295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A Crushing Defeat – France's Humiliating Loss of the Fortress Louisbourg -  MilitaryHistoryNow.com">
            <a:extLst>
              <a:ext uri="{FF2B5EF4-FFF2-40B4-BE49-F238E27FC236}">
                <a16:creationId xmlns:a16="http://schemas.microsoft.com/office/drawing/2014/main" id="{97DD1579-C2FE-CFC8-C85C-BBEC381A2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33815" y="1219694"/>
            <a:ext cx="5036569" cy="4418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23510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EE516-49DB-FF61-017A-4324902E8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child in a camouflage jacket&#10;&#10;Description automatically generated">
            <a:extLst>
              <a:ext uri="{FF2B5EF4-FFF2-40B4-BE49-F238E27FC236}">
                <a16:creationId xmlns:a16="http://schemas.microsoft.com/office/drawing/2014/main" id="{3C6DEA96-17E5-DBC7-3BA5-64BDC54437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5400000">
            <a:off x="37970" y="3936208"/>
            <a:ext cx="2984130" cy="2434522"/>
          </a:xfrm>
        </p:spPr>
      </p:pic>
      <p:pic>
        <p:nvPicPr>
          <p:cNvPr id="7" name="Picture 6" descr="Two children standing on a porch&#10;&#10;Description automatically generated">
            <a:extLst>
              <a:ext uri="{FF2B5EF4-FFF2-40B4-BE49-F238E27FC236}">
                <a16:creationId xmlns:a16="http://schemas.microsoft.com/office/drawing/2014/main" id="{413D9137-26C1-C6CE-5969-F180CD4425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482782" y="1590100"/>
            <a:ext cx="6566587" cy="3677799"/>
          </a:xfrm>
          <a:prstGeom prst="rect">
            <a:avLst/>
          </a:prstGeom>
        </p:spPr>
      </p:pic>
      <p:pic>
        <p:nvPicPr>
          <p:cNvPr id="11" name="Picture 10" descr="A wooden walkway with cannons on it&#10;&#10;Description automatically generated">
            <a:extLst>
              <a:ext uri="{FF2B5EF4-FFF2-40B4-BE49-F238E27FC236}">
                <a16:creationId xmlns:a16="http://schemas.microsoft.com/office/drawing/2014/main" id="{AA6FCD20-8782-38EF-E56A-0937E6DBEE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774" y="212466"/>
            <a:ext cx="6754242" cy="3369194"/>
          </a:xfrm>
          <a:prstGeom prst="rect">
            <a:avLst/>
          </a:prstGeom>
        </p:spPr>
      </p:pic>
      <p:pic>
        <p:nvPicPr>
          <p:cNvPr id="13" name="Picture 12" descr="A group of people posing for a picture&#10;&#10;Description automatically generated">
            <a:extLst>
              <a:ext uri="{FF2B5EF4-FFF2-40B4-BE49-F238E27FC236}">
                <a16:creationId xmlns:a16="http://schemas.microsoft.com/office/drawing/2014/main" id="{8BFD3033-BB67-5CDF-1E5F-BD553DBC17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8471" y="3627764"/>
            <a:ext cx="4068545" cy="305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6033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CDBD4C4D-A21E-304B-438F-3E1BE3B01D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456" y="195005"/>
            <a:ext cx="6830828" cy="3824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Detail of the interpretative panel at the ruins of the Grassy Island Fort">
            <a:extLst>
              <a:ext uri="{FF2B5EF4-FFF2-40B4-BE49-F238E27FC236}">
                <a16:creationId xmlns:a16="http://schemas.microsoft.com/office/drawing/2014/main" id="{75B10A05-6297-16A3-B707-BF1F644223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87" r="2424" b="20775"/>
          <a:stretch/>
        </p:blipFill>
        <p:spPr bwMode="auto">
          <a:xfrm>
            <a:off x="7545714" y="85494"/>
            <a:ext cx="4098118" cy="3527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D9F8DAC-4453-330D-EA42-A021F8045959}"/>
              </a:ext>
            </a:extLst>
          </p:cNvPr>
          <p:cNvSpPr txBox="1"/>
          <p:nvPr/>
        </p:nvSpPr>
        <p:spPr>
          <a:xfrm>
            <a:off x="250456" y="4229718"/>
            <a:ext cx="54013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Fort Anne/Annapolis Royal, 1745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0A3FA5-8468-C05A-9191-D2A9030F79AE}"/>
              </a:ext>
            </a:extLst>
          </p:cNvPr>
          <p:cNvSpPr txBox="1"/>
          <p:nvPr/>
        </p:nvSpPr>
        <p:spPr>
          <a:xfrm>
            <a:off x="3219303" y="6139775"/>
            <a:ext cx="54013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Sketch of Fort Canso, 1720</a:t>
            </a:r>
          </a:p>
        </p:txBody>
      </p:sp>
      <p:pic>
        <p:nvPicPr>
          <p:cNvPr id="6150" name="Picture 6" descr="Detail of the interpretative panel at the ruins of the Grassy Island Fort">
            <a:extLst>
              <a:ext uri="{FF2B5EF4-FFF2-40B4-BE49-F238E27FC236}">
                <a16:creationId xmlns:a16="http://schemas.microsoft.com/office/drawing/2014/main" id="{1C2B292F-2528-098D-D834-B180EF5504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8" t="11782" r="27025" b="30696"/>
          <a:stretch/>
        </p:blipFill>
        <p:spPr bwMode="auto">
          <a:xfrm>
            <a:off x="7509648" y="3723220"/>
            <a:ext cx="4134184" cy="3019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86898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Picture">
            <a:extLst>
              <a:ext uri="{FF2B5EF4-FFF2-40B4-BE49-F238E27FC236}">
                <a16:creationId xmlns:a16="http://schemas.microsoft.com/office/drawing/2014/main" id="{54F4535E-034F-98E7-620D-02805860F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3284" y="1338771"/>
            <a:ext cx="7368298" cy="4180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Picture">
            <a:extLst>
              <a:ext uri="{FF2B5EF4-FFF2-40B4-BE49-F238E27FC236}">
                <a16:creationId xmlns:a16="http://schemas.microsoft.com/office/drawing/2014/main" id="{F64760E7-5C08-52A4-171F-114A2A685D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38771"/>
            <a:ext cx="4054231" cy="4180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40878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A2F5B-880C-28F6-1813-950CF57D2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1725 Treaty with “Eastern Indians”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B4BC8-05DF-B68A-E53F-29BF2AEA0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Signed at Boston in 1725, then brought to various other places (including </a:t>
            </a:r>
            <a:r>
              <a:rPr lang="en-US" dirty="0" err="1"/>
              <a:t>Mi’kma’ki</a:t>
            </a:r>
            <a:r>
              <a:rPr lang="en-US" dirty="0"/>
              <a:t>) for signatures</a:t>
            </a:r>
          </a:p>
          <a:p>
            <a:r>
              <a:rPr lang="en-US" dirty="0"/>
              <a:t>Two Parts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Promises made to the British by the Wabanaki Confederacy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Promises made by the British</a:t>
            </a:r>
          </a:p>
          <a:p>
            <a:r>
              <a:rPr lang="en-US" dirty="0"/>
              <a:t>Treaty was designed to create Peace and Friendship </a:t>
            </a:r>
          </a:p>
          <a:p>
            <a:r>
              <a:rPr lang="en-US" dirty="0"/>
              <a:t>Resumption of Trade</a:t>
            </a:r>
          </a:p>
          <a:p>
            <a:r>
              <a:rPr lang="en-US" dirty="0"/>
              <a:t>Did NOT include any discussion of land or surrender of territory to the British </a:t>
            </a:r>
          </a:p>
        </p:txBody>
      </p:sp>
    </p:spTree>
    <p:extLst>
      <p:ext uri="{BB962C8B-B14F-4D97-AF65-F5344CB8AC3E}">
        <p14:creationId xmlns:p14="http://schemas.microsoft.com/office/powerpoint/2010/main" val="14598149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Mi'kmaq Portraits Collection">
            <a:extLst>
              <a:ext uri="{FF2B5EF4-FFF2-40B4-BE49-F238E27FC236}">
                <a16:creationId xmlns:a16="http://schemas.microsoft.com/office/drawing/2014/main" id="{965FFC75-F8CB-0CBD-97EF-45CB5D42E6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9458" y="223519"/>
            <a:ext cx="2816889" cy="3162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Protecting Mi'kmaq Petroglyphs in Bedford, Kejimkujik National Park –  Ku'ku'kwes News">
            <a:extLst>
              <a:ext uri="{FF2B5EF4-FFF2-40B4-BE49-F238E27FC236}">
                <a16:creationId xmlns:a16="http://schemas.microsoft.com/office/drawing/2014/main" id="{8B7834E1-88CC-95B9-76F9-B52E3848BF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0578" y="3393439"/>
            <a:ext cx="5145487" cy="3431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picture containing grass, outdoor, person&#10;&#10;Description automatically generated">
            <a:extLst>
              <a:ext uri="{FF2B5EF4-FFF2-40B4-BE49-F238E27FC236}">
                <a16:creationId xmlns:a16="http://schemas.microsoft.com/office/drawing/2014/main" id="{3D4108F8-6743-6D0F-F75A-4074381434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332937" y="1437138"/>
            <a:ext cx="6339840" cy="39837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78E4746-D9BE-30F2-8B30-A8C5B53CF39C}"/>
              </a:ext>
            </a:extLst>
          </p:cNvPr>
          <p:cNvSpPr txBox="1"/>
          <p:nvPr/>
        </p:nvSpPr>
        <p:spPr>
          <a:xfrm>
            <a:off x="376178" y="783772"/>
            <a:ext cx="1828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Bedford Petroglyphs National Historic Site, Halifax, N.S.</a:t>
            </a:r>
          </a:p>
        </p:txBody>
      </p:sp>
    </p:spTree>
    <p:extLst>
      <p:ext uri="{BB962C8B-B14F-4D97-AF65-F5344CB8AC3E}">
        <p14:creationId xmlns:p14="http://schemas.microsoft.com/office/powerpoint/2010/main" val="35713070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Edward Cornwallis - Wikipedia">
            <a:extLst>
              <a:ext uri="{FF2B5EF4-FFF2-40B4-BE49-F238E27FC236}">
                <a16:creationId xmlns:a16="http://schemas.microsoft.com/office/drawing/2014/main" id="{2B3B9572-B529-3C27-DB5C-8AB167F744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93" y="0"/>
            <a:ext cx="421188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8" descr="The Highland Clearances">
            <a:extLst>
              <a:ext uri="{FF2B5EF4-FFF2-40B4-BE49-F238E27FC236}">
                <a16:creationId xmlns:a16="http://schemas.microsoft.com/office/drawing/2014/main" id="{C58F2C60-7596-D7AC-F44C-B5348F2EC9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7649" y="0"/>
            <a:ext cx="7649396" cy="6050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243F4D3-6BB7-0781-CFB9-7383E8DD5C26}"/>
              </a:ext>
            </a:extLst>
          </p:cNvPr>
          <p:cNvSpPr txBox="1"/>
          <p:nvPr/>
        </p:nvSpPr>
        <p:spPr>
          <a:xfrm>
            <a:off x="4698124" y="6159062"/>
            <a:ext cx="7357283" cy="378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Left: Governor Edward Cornwallis      Above: The Highland Clearances. 1740s</a:t>
            </a:r>
          </a:p>
        </p:txBody>
      </p:sp>
    </p:spTree>
    <p:extLst>
      <p:ext uri="{BB962C8B-B14F-4D97-AF65-F5344CB8AC3E}">
        <p14:creationId xmlns:p14="http://schemas.microsoft.com/office/powerpoint/2010/main" val="41376037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D468789-AF2F-83E1-6F31-6C9A797B3D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382773-CB90-A8C1-D888-E3F20A6138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050" y="0"/>
            <a:ext cx="98679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49518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C37A54C-53FA-4C87-072F-46E0F376F429}"/>
              </a:ext>
            </a:extLst>
          </p:cNvPr>
          <p:cNvSpPr/>
          <p:nvPr/>
        </p:nvSpPr>
        <p:spPr>
          <a:xfrm>
            <a:off x="5822731" y="273269"/>
            <a:ext cx="5686097" cy="64638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3ED539-13BA-0027-8E9D-A9A8C059D529}"/>
              </a:ext>
            </a:extLst>
          </p:cNvPr>
          <p:cNvSpPr txBox="1"/>
          <p:nvPr/>
        </p:nvSpPr>
        <p:spPr>
          <a:xfrm>
            <a:off x="6258560" y="452070"/>
            <a:ext cx="510032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“The place where you are, the place where you live, the place where you are building a fortification, the place where you want now to establish yourself, the place of which you want to make yourself the absolute master, this place belongs to me. I come out of this earth like a blade of grass, me, the Indian, I have been born there the son [and] from father to son. This place is my land, I swear it. It is God who has given me this land to be my homeland forever…”</a:t>
            </a:r>
          </a:p>
          <a:p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CA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Mi’kmaq Declaration – written by Abbe Pierre Maillard on behalf of the Mi’kmaq, sent to Governor Cornwallis, September 23 1749</a:t>
            </a:r>
          </a:p>
          <a:p>
            <a:endParaRPr lang="en-US" sz="2400" b="1" dirty="0"/>
          </a:p>
        </p:txBody>
      </p:sp>
      <p:pic>
        <p:nvPicPr>
          <p:cNvPr id="5" name="Picture 7" descr="page1image3648525712">
            <a:extLst>
              <a:ext uri="{FF2B5EF4-FFF2-40B4-BE49-F238E27FC236}">
                <a16:creationId xmlns:a16="http://schemas.microsoft.com/office/drawing/2014/main" id="{9C64CF26-565D-BC03-7ED2-78A91AC8BE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54736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56596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161EE-6B3A-BDF6-56C5-5CDB94309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A25C2CE-86FD-CAF1-E14D-29302E412A5D}"/>
              </a:ext>
            </a:extLst>
          </p:cNvPr>
          <p:cNvSpPr/>
          <p:nvPr/>
        </p:nvSpPr>
        <p:spPr>
          <a:xfrm>
            <a:off x="5822731" y="273269"/>
            <a:ext cx="5686097" cy="64638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C598D0-6F54-225A-A121-4708756E81C1}"/>
              </a:ext>
            </a:extLst>
          </p:cNvPr>
          <p:cNvSpPr txBox="1"/>
          <p:nvPr/>
        </p:nvSpPr>
        <p:spPr>
          <a:xfrm>
            <a:off x="6258560" y="452070"/>
            <a:ext cx="510032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“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…A 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crawling worm defends itself when it senses an attack. Assuredly, I, an Indian, am worth somewhat more than a worm, and thus with greater reason must I know to defend myself when I am attacked.</a:t>
            </a:r>
            <a:b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Yes, certainly I am going to go see you, soon I will see you.”</a:t>
            </a:r>
          </a:p>
          <a:p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CA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Mi’kmaq Declaration – written by Abbe Pierre Maillard on behalf of the Mi’kmaq, sent to Governor Cornwallis, September 23 1749</a:t>
            </a:r>
          </a:p>
          <a:p>
            <a:endParaRPr lang="en-US" sz="2400" b="1" dirty="0"/>
          </a:p>
        </p:txBody>
      </p:sp>
      <p:pic>
        <p:nvPicPr>
          <p:cNvPr id="5" name="Picture 7" descr="page1image3648525712">
            <a:extLst>
              <a:ext uri="{FF2B5EF4-FFF2-40B4-BE49-F238E27FC236}">
                <a16:creationId xmlns:a16="http://schemas.microsoft.com/office/drawing/2014/main" id="{1F72505B-8E76-7958-D496-242F919F7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54736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12580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92C481-2D1E-9181-5185-0177FE45F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659952"/>
            <a:ext cx="5756576" cy="35380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147228-EB75-A1CC-6922-EDC9185A12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116" y="1498600"/>
            <a:ext cx="5210018" cy="4436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1947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0A87B-6638-48A4-B169-CA30CCA6D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38265"/>
            <a:ext cx="5791199" cy="1401183"/>
          </a:xfrm>
        </p:spPr>
        <p:txBody>
          <a:bodyPr anchor="t">
            <a:normAutofit/>
          </a:bodyPr>
          <a:lstStyle/>
          <a:p>
            <a:r>
              <a:rPr lang="en-US" sz="3200"/>
              <a:t>1752 Treaty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41016-F404-1DEA-7781-132110D795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551176"/>
            <a:ext cx="5791199" cy="3602935"/>
          </a:xfrm>
        </p:spPr>
        <p:txBody>
          <a:bodyPr>
            <a:normAutofit/>
          </a:bodyPr>
          <a:lstStyle/>
          <a:p>
            <a:r>
              <a:rPr lang="en-US" sz="2000"/>
              <a:t>Cornwallis recalled to England</a:t>
            </a:r>
          </a:p>
          <a:p>
            <a:r>
              <a:rPr lang="en-US" sz="2000"/>
              <a:t>Governor Peregrine Hobson ended Scalp proclamation, ceasefire with Mi’kmaq</a:t>
            </a:r>
          </a:p>
          <a:p>
            <a:r>
              <a:rPr lang="en-US" sz="2000"/>
              <a:t>Mostly same text as 1725 Treaty</a:t>
            </a:r>
          </a:p>
          <a:p>
            <a:r>
              <a:rPr lang="en-US" sz="2000"/>
              <a:t>Included “Truckhouse” clause</a:t>
            </a:r>
          </a:p>
          <a:p>
            <a:r>
              <a:rPr lang="en-US" sz="2000"/>
              <a:t>Negotiated by Sagamow Jean-Baptiste Cope</a:t>
            </a:r>
          </a:p>
          <a:p>
            <a:r>
              <a:rPr lang="en-US" sz="2000"/>
              <a:t>Signed at Halifax in 1752</a:t>
            </a:r>
          </a:p>
        </p:txBody>
      </p:sp>
      <p:pic>
        <p:nvPicPr>
          <p:cNvPr id="8194" name="Picture 2" descr="Peace and Friendship Treaties of Nova Scotia | Halifax Public Libraries">
            <a:extLst>
              <a:ext uri="{FF2B5EF4-FFF2-40B4-BE49-F238E27FC236}">
                <a16:creationId xmlns:a16="http://schemas.microsoft.com/office/drawing/2014/main" id="{223B1156-F080-56A3-A3B5-BB5F87B33F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40"/>
          <a:stretch/>
        </p:blipFill>
        <p:spPr bwMode="auto">
          <a:xfrm>
            <a:off x="5826642" y="115852"/>
            <a:ext cx="6166883" cy="6719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99194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4" name="Picture 4" descr="Sovereignty in Action - Treaty Truck House — Indigenous Climate Action">
            <a:hlinkClick r:id="rId2"/>
            <a:extLst>
              <a:ext uri="{FF2B5EF4-FFF2-40B4-BE49-F238E27FC236}">
                <a16:creationId xmlns:a16="http://schemas.microsoft.com/office/drawing/2014/main" id="{37D00980-1CB2-71FD-B7D3-054263FEF3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40" r="37188" b="-1"/>
          <a:stretch/>
        </p:blipFill>
        <p:spPr bwMode="auto">
          <a:xfrm>
            <a:off x="192528" y="171716"/>
            <a:ext cx="3793268" cy="6514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2" name="Picture 2" descr="Gas Storage Plan vs. Indigenous Rights in Nova Scotia - FracTracker Alliance">
            <a:extLst>
              <a:ext uri="{FF2B5EF4-FFF2-40B4-BE49-F238E27FC236}">
                <a16:creationId xmlns:a16="http://schemas.microsoft.com/office/drawing/2014/main" id="{DD0B5261-2FF0-5B7F-1AD1-8275BE1857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64" r="30063"/>
          <a:stretch/>
        </p:blipFill>
        <p:spPr bwMode="auto">
          <a:xfrm>
            <a:off x="4184538" y="171716"/>
            <a:ext cx="3822924" cy="6514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6" name="Picture 6" descr="I Want Them to Have Justice': Inside the Fight to Save the Shubenacadie  River | The Tyee">
            <a:extLst>
              <a:ext uri="{FF2B5EF4-FFF2-40B4-BE49-F238E27FC236}">
                <a16:creationId xmlns:a16="http://schemas.microsoft.com/office/drawing/2014/main" id="{7C623179-2C86-D3C0-23A9-21E414E637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24" r="35838" b="-1"/>
          <a:stretch/>
        </p:blipFill>
        <p:spPr bwMode="auto">
          <a:xfrm>
            <a:off x="8188032" y="171716"/>
            <a:ext cx="3799007" cy="6514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092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5076</TotalTime>
  <Words>760</Words>
  <Application>Microsoft Macintosh PowerPoint</Application>
  <PresentationFormat>Widescreen</PresentationFormat>
  <Paragraphs>75</Paragraphs>
  <Slides>26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American Typewriter</vt:lpstr>
      <vt:lpstr>Arial</vt:lpstr>
      <vt:lpstr>Calibri</vt:lpstr>
      <vt:lpstr>Calibri Light</vt:lpstr>
      <vt:lpstr>Office Theme</vt:lpstr>
      <vt:lpstr>PowerPoint Presentation</vt:lpstr>
      <vt:lpstr>PowerPoint Presentation</vt:lpstr>
      <vt:lpstr>Recap:</vt:lpstr>
      <vt:lpstr>Today:</vt:lpstr>
      <vt:lpstr>End of the Mourning Wars</vt:lpstr>
      <vt:lpstr>Covenant Chain Treaties</vt:lpstr>
      <vt:lpstr>Aftermath of the Great Peace</vt:lpstr>
      <vt:lpstr>PowerPoint Presentation</vt:lpstr>
      <vt:lpstr>PowerPoint Presentation</vt:lpstr>
      <vt:lpstr>European Conflicts on Indigenous Lands </vt:lpstr>
      <vt:lpstr>PowerPoint Presentation</vt:lpstr>
      <vt:lpstr>European Conflicts on Indigenous Lands </vt:lpstr>
      <vt:lpstr>European Claims, 1713</vt:lpstr>
      <vt:lpstr>PowerPoint Presentation</vt:lpstr>
      <vt:lpstr>PowerPoint Presentation</vt:lpstr>
      <vt:lpstr>PowerPoint Presentation</vt:lpstr>
      <vt:lpstr>PowerPoint Presentation</vt:lpstr>
      <vt:lpstr>1725 Treaty with “Eastern Indians”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1752 Treaty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Colin Osmond</dc:creator>
  <cp:lastModifiedBy>Valentini, Vanessa [BCCancer]</cp:lastModifiedBy>
  <cp:revision>5</cp:revision>
  <dcterms:created xsi:type="dcterms:W3CDTF">2023-07-21T20:53:51Z</dcterms:created>
  <dcterms:modified xsi:type="dcterms:W3CDTF">2026-10-01T21:26:40Z</dcterms:modified>
</cp:coreProperties>
</file>